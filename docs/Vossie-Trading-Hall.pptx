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E8FB0"/>
                </a:solidFill>
                <a:latin typeface="Calibri"/>
              </a:rPr>
              <a:t>01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16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32103" y="832103"/>
            <a:ext cx="896112" cy="896112"/>
          </a:xfrm>
          <a:prstGeom prst="donut">
            <a:avLst>
              <a:gd name="adj" fmla="val 28000"/>
            </a:avLst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868680"/>
            <a:ext cx="822960" cy="822960"/>
          </a:xfrm>
          <a:prstGeom prst="ellipse">
            <a:avLst/>
          </a:prstGeom>
          <a:solidFill>
            <a:srgbClr val="16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C9D8F2"/>
                </a:solidFill>
                <a:latin typeface="Calibri"/>
              </a:rPr>
              <a:t>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Vossie</a:t>
            </a:r>
          </a:p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Trading 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8F2"/>
                </a:solidFill>
                <a:latin typeface="Calibri"/>
              </a:rPr>
              <a:t>The student-only campus marketplace for Eduvos. Buy, sell and trade safely with verified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@vossie.net</a:t>
            </a:r>
            <a:r>
              <a:rPr sz="1700" b="0" i="0">
                <a:solidFill>
                  <a:srgbClr val="C9D8F2"/>
                </a:solidFill>
                <a:latin typeface="Calibri"/>
              </a:rPr>
              <a:t>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E8FB0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Colin Swart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577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E8FB0"/>
                </a:solidFill>
                <a:latin typeface="Calibri"/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852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ITECA3-12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577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E8FB0"/>
                </a:solidFill>
                <a:latin typeface="Calibri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8521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29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02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Students have no safe place to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00200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B86"/>
                </a:solidFill>
                <a:latin typeface="Calibri"/>
              </a:rPr>
              <a:t>Eduvos students constantly buy and sell textbooks, electronics and services, but the tools they use today were never built for a closed campus community.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1A38"/>
                </a:solidFill>
                <a:latin typeface="Calibri"/>
              </a:rPr>
              <a:t>Public marketplaces are open to outsiders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1635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Facebook Marketplace and Gumtree have no student verification, which opens the door to scams, no-shows and unsafe meet-ups.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118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1A38"/>
                </a:solidFill>
                <a:latin typeface="Calibri"/>
              </a:rPr>
              <a:t>WhatsApp groups are disorganised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5935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Listings vanish in the chat scroll. There are no categories, no search and no easy way to find what you need.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1A38"/>
                </a:solidFill>
                <a:latin typeface="Calibri"/>
              </a:rPr>
              <a:t>No proof a deal happened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0235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Nothing records that an item changed hands, which leaves disputes and uncertainty around the hand-over.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03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A verified, student-only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120640" cy="4297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A38"/>
                </a:solidFill>
                <a:latin typeface="Calibri"/>
              </a:rPr>
              <a:t>Vossie Trading Hall</a:t>
            </a:r>
            <a:r>
              <a:rPr sz="1700" b="0" i="0">
                <a:solidFill>
                  <a:srgbClr val="1B2A4A"/>
                </a:solidFill>
                <a:latin typeface="Calibri"/>
              </a:rPr>
              <a:t> lets verified Eduvos students list items, browse by category, and confirm hand-overs with a unique QR code, so every trade stays inside the campus community.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0" y="1965960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Student-only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585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Registration is gated to @vossie.net emails.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99008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44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Organised and searchable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8269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Categories, search and a dedicated textbook hub.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401421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68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QR-confirmed hand-off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0682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Each completed deal leaves a record.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5038344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926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Simple and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3095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86"/>
                </a:solidFill>
                <a:latin typeface="Calibri"/>
              </a:rPr>
              <a:t>Runs on free-tier Azure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04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What the app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80136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09928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Student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11680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Sign up and log in with @vossie.net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00200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180136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709928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Manage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011680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Create, edit and delete listings with photo upload.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32888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273405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642616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Browse and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944368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Filter listings across nine categories.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532888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273405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642616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Listing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944368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Fixed-price sales and wanted requests.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65576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3666744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575304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Textbook marketplace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877056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Dedicated hub with ISBN, author and edition.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465576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666744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575304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Generate listing QR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877056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Each listing gets a unique seller QR code.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98264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59" y="4599432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450799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Scan to 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4809744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Buyer scans the QR to confirm a transaction.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398264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4599432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450799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My Listings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809744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Manage everything you have posted in one place.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30952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2959" y="5532120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5440680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Admin role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574243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Moderate content and manage promotions.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59" y="5330952"/>
            <a:ext cx="5349240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2240" y="5532120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5440680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Business listings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742432"/>
            <a:ext cx="44805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B86"/>
                </a:solidFill>
                <a:latin typeface="Calibri"/>
              </a:rPr>
              <a:t>Flag for campus sellers and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05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Quality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49240" cy="868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3852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3794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1A38"/>
                </a:solidFill>
                <a:latin typeface="Calibri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3969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Bcrypt hashing (cost 12), CSRF tokens, domain-gated sign-up, session regeneration and HTTPS-only.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5349240" cy="868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7" y="193852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3794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1A38"/>
                </a:solidFill>
                <a:latin typeface="Calibri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13969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Lightweight PHP with indexed MySQL queries that stay comfortable on free-tier hosting.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349240" cy="868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299008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89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1A38"/>
                </a:solidFill>
                <a:latin typeface="Calibri"/>
              </a:rPr>
              <a:t>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9125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Responsive Tailwind UI with mobile camera QR scanning and a manual fallback.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743200"/>
            <a:ext cx="5349240" cy="868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7" y="299008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889504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1A38"/>
                </a:solidFill>
                <a:latin typeface="Calibri"/>
              </a:rPr>
              <a:t>Portability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191256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Docker Compose locally, MySQL and SQLite schemas, and one-click Azure deploy.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94760"/>
            <a:ext cx="11018519" cy="86868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041648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41064"/>
            <a:ext cx="10104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1A38"/>
                </a:solidFill>
                <a:latin typeface="Calibri"/>
              </a:rPr>
              <a:t>Integrity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42816"/>
            <a:ext cx="101041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Foreign-key constraints, unique email and QR tokens, and immutable transaction records keep data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06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‹›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Built layer by layer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56231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PHP 8.2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 running the server-side logic over PDO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87752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15184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MySQL 8.0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, with a SQLite schema for lightweight runs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46704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924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7413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HTML, Tailwind CSS, JavaScript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, including the html5-qrcode scanner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105656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5137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33088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Azure App Service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 on Linux (Free F1 tier) with HTTPS enforced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864608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910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9204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Docker and Docker Compose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 for a reproducible local environment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623560"/>
            <a:ext cx="457200" cy="45720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6692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1A38"/>
                </a:solidFill>
                <a:latin typeface="Calibri"/>
              </a:rPr>
              <a:t>VERSION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650992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E1A38"/>
                </a:solidFill>
                <a:latin typeface="Calibri"/>
              </a:rPr>
              <a:t>Git and GitHub</a:t>
            </a:r>
            <a:r>
              <a:rPr sz="1600" b="0" i="0">
                <a:solidFill>
                  <a:srgbClr val="1B2A4A"/>
                </a:solidFill>
                <a:latin typeface="Calibri"/>
              </a:rPr>
              <a:t> for source history and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07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A modular PHP application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019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Shared includes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31136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config.php (site config, allowed domain, categories), auth.php (sessions, CSRF, login guards), db.php (PDO connection), and the header and footer layout.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657600"/>
            <a:ext cx="420624" cy="420624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3931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Page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68496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index, register, login, create-listing, my-listings, listing, books and admin, each a focused entry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5212080" cy="4297680"/>
          </a:xfrm>
          <a:prstGeom prst="roundRect">
            <a:avLst/>
          </a:prstGeom>
          <a:solidFill>
            <a:srgbClr val="16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D8F2"/>
                </a:solidFill>
                <a:latin typeface="Calibri"/>
              </a:rPr>
              <a:t>QR TRANSACTION FLOW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2606040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243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listing-qr.php</a:t>
            </a:r>
            <a:r>
              <a:rPr sz="1400" b="0" i="0">
                <a:solidFill>
                  <a:srgbClr val="C9D8F2"/>
                </a:solidFill>
                <a:latin typeface="Calibri"/>
              </a:rPr>
              <a:t> shows the seller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063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D8F2"/>
                </a:solidFill>
                <a:latin typeface="Calibri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3657600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75887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scan-transaction.php</a:t>
            </a:r>
            <a:r>
              <a:rPr sz="1400" b="0" i="0">
                <a:solidFill>
                  <a:srgbClr val="C9D8F2"/>
                </a:solidFill>
                <a:latin typeface="Calibri"/>
              </a:rPr>
              <a:t> reads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114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D8F2"/>
                </a:solidFill>
                <a:latin typeface="Calibri"/>
              </a:rPr>
              <a:t>↓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4709160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274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confirm-transaction.php</a:t>
            </a:r>
            <a:r>
              <a:rPr sz="1400" b="0" i="0">
                <a:solidFill>
                  <a:srgbClr val="C9D8F2"/>
                </a:solidFill>
                <a:latin typeface="Calibri"/>
              </a:rPr>
              <a:t> records the deal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08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Four related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49240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74519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288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176272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Accounts: name, email, password_hash, phone and is_admin.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5349240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599" y="18288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599" y="2176272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Items: title, price, category, image, qr_token and status. Belongs to a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349240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383280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375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685032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Confirmed deals that link a listing to its seller and buyer with a timestamp.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154680"/>
            <a:ext cx="5349240" cy="12801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59" y="3383280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599" y="33375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1A38"/>
                </a:solidFill>
                <a:latin typeface="Calibri"/>
              </a:rPr>
              <a:t>promotions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685032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B86"/>
                </a:solidFill>
                <a:latin typeface="Calibri"/>
              </a:rPr>
              <a:t>Admin-managed campus promos shown on the home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1A38"/>
                </a:solidFill>
                <a:latin typeface="Calibri"/>
              </a:rPr>
              <a:t>Relationships: </a:t>
            </a:r>
            <a:r>
              <a:rPr sz="1350" b="0" i="0">
                <a:solidFill>
                  <a:srgbClr val="5A6B86"/>
                </a:solidFill>
                <a:latin typeface="Calibri"/>
              </a:rPr>
              <a:t>one user to many listings, one listing to many transactions, and each transaction references a seller and a buyer. ON DELETE CASCADE keeps records consistent.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09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KEY FEATURES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Screens to walk 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25980" y="2148840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Home / Browse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20740" y="2148840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Create a Listing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15500" y="2148840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Listing + Seller 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79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25980" y="4297679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19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Scan and Confirm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40479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0740" y="4297679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074919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Textbook 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840479"/>
            <a:ext cx="3520440" cy="1874519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C4C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15500" y="4297679"/>
            <a:ext cx="548640" cy="54864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74919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5A6B86"/>
                </a:solidFill>
                <a:latin typeface="Calibri"/>
              </a:rPr>
              <a:t>Admin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10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SECURITY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Safety built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5681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5623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Students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6712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Only @vossie.net emails can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7" y="195681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5623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Hashed passwords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16712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Bcrypt (cost 12), never stored in plain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05409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5351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CSRF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6440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Tokens guard every form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78892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7" y="305409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95351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Session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26440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Session ID regenerated on login.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15137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50791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HTTPS and secure cookies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6168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Enforced HTTPS with HttpOnly, SameSite cookies.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886200"/>
            <a:ext cx="5349240" cy="914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10527" y="4151376"/>
            <a:ext cx="384048" cy="384048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4050791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1A38"/>
                </a:solidFill>
                <a:latin typeface="Calibri"/>
              </a:rPr>
              <a:t>Safe uploads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36168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86"/>
                </a:solidFill>
                <a:latin typeface="Calibri"/>
              </a:rPr>
              <a:t>Images only, max 5MB, validated by MIME 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9AA8C4"/>
                </a:solidFill>
                <a:latin typeface="Calibri"/>
              </a:rPr>
              <a:t>11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770381" y="697230"/>
            <a:ext cx="608076" cy="608076"/>
          </a:xfrm>
          <a:prstGeom prst="donu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713232"/>
            <a:ext cx="576072" cy="576072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548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7E8FB0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E1A38"/>
                </a:solidFill>
                <a:latin typeface="Cambria"/>
              </a:rPr>
              <a:t>See it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927080" cy="960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386584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3230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86"/>
                </a:solidFill>
                <a:latin typeface="Calibri"/>
              </a:rPr>
              <a:t>LIVE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77439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A38"/>
                </a:solidFill>
                <a:latin typeface="Calibri"/>
              </a:rPr>
              <a:t>https://vossiehallphp75163.azurewebsites.net/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39"/>
            <a:ext cx="10927080" cy="960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575303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2102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86"/>
                </a:solidFill>
                <a:latin typeface="Calibri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66159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A38"/>
                </a:solidFill>
                <a:latin typeface="Calibri"/>
              </a:rPr>
              <a:t>github.com/xd-Park3rr/EduvosMarket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10927080" cy="960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764023"/>
            <a:ext cx="411480" cy="411480"/>
          </a:xfrm>
          <a:prstGeom prst="ellipse">
            <a:avLst/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097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A6B86"/>
                </a:solidFill>
                <a:latin typeface="Calibri"/>
              </a:rPr>
              <a:t>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754879"/>
            <a:ext cx="8321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Register with any @vossie.net address. Admin features via admin@vossie.net.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38404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E8FB0"/>
                </a:solidFill>
                <a:latin typeface="Calibri"/>
              </a:rPr>
              <a:t>12 / 12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16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18388" y="818388"/>
            <a:ext cx="832104" cy="832104"/>
          </a:xfrm>
          <a:prstGeom prst="donut">
            <a:avLst>
              <a:gd name="adj" fmla="val 28000"/>
            </a:avLst>
          </a:prstGeom>
          <a:solidFill>
            <a:srgbClr val="0E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850392"/>
            <a:ext cx="768096" cy="768096"/>
          </a:xfrm>
          <a:prstGeom prst="ellipse">
            <a:avLst/>
          </a:prstGeom>
          <a:solidFill>
            <a:srgbClr val="16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C9D8F2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A complete, secure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D8F2"/>
                </a:solidFill>
                <a:latin typeface="Calibri"/>
              </a:rPr>
              <a:t>Vossie Trading Hall demonstrates authentication, full CRUD, image uploads, role-based admin and a QR-driven transaction flow on a portable, containerised, cloud-deployed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Real-world considerations: </a:t>
            </a:r>
            <a:r>
              <a:rPr sz="1800" b="0" i="0">
                <a:solidFill>
                  <a:srgbClr val="C9D8F2"/>
                </a:solidFill>
                <a:latin typeface="Calibri"/>
              </a:rPr>
              <a:t>student verification builds trust, database constraints protect data integrity, and free-tier hosting keeps the platform sustainable for a campus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